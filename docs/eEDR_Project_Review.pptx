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pic>
        <p:nvPicPr>
          <p:cNvPr id="3" name="Image 0" descr="/mnt/user-data/outputs/logo_le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1143000" cy="1097280"/>
          </a:xfrm>
          <a:prstGeom prst="rect">
            <a:avLst/>
          </a:prstGeom>
        </p:spPr>
      </p:pic>
      <p:pic>
        <p:nvPicPr>
          <p:cNvPr id="4" name="Image 1" descr="/mnt/user-data/outputs/logo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75" y="457200"/>
            <a:ext cx="1143000" cy="10972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920240" y="502920"/>
            <a:ext cx="83512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2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</a:t>
            </a:r>
            <a:endParaRPr lang="en-US" sz="295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2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 6</a:t>
            </a:r>
            <a:endParaRPr lang="en-US" sz="295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178308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Vivekanand Education Society's Institute of Technology</a:t>
            </a:r>
            <a:endParaRPr lang="en-US" sz="1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Institute Affiliated to University of Mumbai</a:t>
            </a:r>
            <a:endParaRPr lang="en-US" sz="175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26060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Automobile Event Data Recorder</a:t>
            </a:r>
            <a:endParaRPr lang="en-US" sz="1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3383280"/>
          <a:ext cx="6675120" cy="914400"/>
        </p:xfrm>
        <a:graphic>
          <a:graphicData uri="http://schemas.openxmlformats.org/drawingml/2006/table">
            <a:tbl>
              <a:tblPr/>
              <a:tblGrid>
                <a:gridCol w="3337560"/>
                <a:gridCol w="3337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Kartik Nagare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/ D19A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Jyotiraditya Bhosale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D19A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Prince Eppakayal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/ D19A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914400" y="507492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- Dr. Nandini Ammanagi</a:t>
            </a:r>
            <a:endParaRPr lang="en-US" sz="2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Professor, EXTC</a:t>
            </a:r>
            <a:endParaRPr lang="en-US" sz="2150" dirty="0"/>
          </a:p>
        </p:txBody>
      </p:sp>
      <p:sp>
        <p:nvSpPr>
          <p:cNvPr id="10" name="Text 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 to be covered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91640"/>
            <a:ext cx="8229600" cy="4526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Software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Hardware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Challenges &amp; Decisions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</a:t>
            </a:r>
            <a:endParaRPr lang="en-US" sz="2150" dirty="0"/>
          </a:p>
          <a:p>
            <a:pPr marL="279400" indent="-279400" algn="l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2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75208" y="1417320"/>
            <a:ext cx="10241280" cy="480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Event Data Recorder (EDR) is a vehicle “black box” that continuously records how a vehicle is behaving.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monitors motion, GPS, and vehicle signals in real time.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crash, it preserves the moments around the impact for later analysis.</a:t>
            </a:r>
            <a:endParaRPr lang="en-US" sz="185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project - the Enhanced EDR - extends this idea with: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capture at 100 Hz across 40 parameters.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crash detection and forensic, tamper-evident storage.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power-survivability stage so recording completes even if the vehicle loses power.</a:t>
            </a:r>
            <a:endParaRPr lang="en-US" sz="185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Aim: a reliable, forensic-grade record of what happened in a crash.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975208" y="1508760"/>
            <a:ext cx="10241280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 crash, objective evidence is often missing or incomplete: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braking and impact direction are unknown or disputed.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power is frequently cut on impact, so data is lost mid-write.</a:t>
            </a:r>
            <a:endParaRPr lang="en-US" sz="185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recorder for this must therefore: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a crash reliably, without a single point of failure.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the data in tamper-evident, locked storage.</a:t>
            </a:r>
            <a:endParaRPr lang="en-US" sz="185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running through the power loss long enough to finish saving.</a:t>
            </a:r>
            <a:endParaRPr lang="en-US" sz="185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“Design a forensic-grade EDR that captures, secures and survives a crash event.”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5" name="Image 0" descr="/mnt/user-data/outputs/system_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4991" y="1348740"/>
            <a:ext cx="8401713" cy="4709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1722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A transmits vehicle data over CAN to Node B, which records it with its own sensors; the Power Survivability Unit keeps the recorder alive through a power cut.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Overview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4303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55138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did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Simulation engine (Python)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&amp; tested the full recorder core - 14/14 tests, 6 scenarios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Analysis workstation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a 10-module forensic analysis &amp; reconstruction app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Power Survivability Unit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Designed, wired and routed the backup-power PCB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EDR HAT (sensor board)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Wiring, netlist and routed HAT PCB for the 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Software: EDR Engine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66648" y="1828800"/>
            <a:ext cx="10058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pure-Python recorder that runs identically on PC and Pi.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40-parameter sensor model at 100 Hz.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Four-trigger crash detection (IMU, speed drop, ECU flag, power-fail).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 Delta-V, CSI, direction of force, rollover.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 storage with SHA-256 verification.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by unit tests and 6 crash scenarios (frontal, side, rollover, and correct non-events).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Software: Analysis Workstation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self-contained web app we built to reconstruct and analyse each captured event (runs offline).</a:t>
            </a:r>
            <a:endParaRPr lang="en-US" sz="16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0879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37560"/>
                <a:gridCol w="2103120"/>
                <a:gridCol w="33649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Reconstruction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 replay with force vectors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Spectrum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FFT of the crash pulse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Crash Pulse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Δv as integrated area under |a|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Trajectory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GPS path with impact point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Biomechanics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 Injury Criterion &amp; risk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Frame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40 parameters, live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Kinematics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Schematic, deformation, PDOF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Forensic / Report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SHA-256, lock, tamper, report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Survivability Unit - Block Diagram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5" name="Image 0" descr="/mnt/user-data/outputs/backup_bloc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596" y="1348740"/>
            <a:ext cx="9114503" cy="4709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1722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the 12 V line powers the Pi and charges the 18650; on a power cut the boost feeds the Pi automatically via a diode - no software action needed.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Survivability Unit - Circuit Schematic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pic>
        <p:nvPicPr>
          <p:cNvPr id="5" name="Image 0" descr="/mnt/user-data/outputs/backup_circuit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7481" y="1348740"/>
            <a:ext cx="8056732" cy="47091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61722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buck to 5.3 V and the boost to 5.1 V before connecting the Pi; the boost only ever steps up, so the Pi can never be over-volted.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Done - Hardware: Custom PCBs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Survivability Unit PCB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6020" y="1572768"/>
            <a:ext cx="4465880" cy="3886200"/>
          </a:xfrm>
          <a:prstGeom prst="rect">
            <a:avLst/>
          </a:prstGeom>
          <a:ln w="12700">
            <a:solidFill>
              <a:srgbClr val="B9C0C8"/>
            </a:solidFill>
            <a:prstDash val="solid"/>
          </a:ln>
        </p:spPr>
      </p:sp>
      <p:pic>
        <p:nvPicPr>
          <p:cNvPr id="7" name="Image 0" descr="/mnt/user-data/outputs/pcb_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40" y="1618488"/>
            <a:ext cx="4374440" cy="3794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532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2-layer board · screw terminals for every I/O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EDR Unit HAT PCB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642720" y="1572768"/>
            <a:ext cx="4453920" cy="3886200"/>
          </a:xfrm>
          <a:prstGeom prst="rect">
            <a:avLst/>
          </a:prstGeom>
          <a:ln w="12700">
            <a:solidFill>
              <a:srgbClr val="B9C0C8"/>
            </a:solidFill>
            <a:prstDash val="solid"/>
          </a:ln>
        </p:spPr>
      </p:sp>
      <p:pic>
        <p:nvPicPr>
          <p:cNvPr id="11" name="Image 1" descr="/mnt/user-data/outputs/pcb_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440" y="1618488"/>
            <a:ext cx="4362480" cy="3794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80760" y="55321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Stacks on the Pi's 40-pin header · carries all sensors + CAN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Challenges &amp; Decisions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28800"/>
          <a:ext cx="1054303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resolution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Supercapacitors unavailable &amp; costly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Switched to 18650 + TP4056 - cheaper, available, longer hold-up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MT3608 boost out of stock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 HW-432 (XL6009) as a drop-in; recalculated backup time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V CAN module vs Pi's 3.3 V pins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the CAN module at 3.3 V - no level shifter, no risk to the Pi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SPI devices on one bus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chip-selects (CE0 for CAN, CE1 for flash) avoid collision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C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00200" y="1783080"/>
            <a:ext cx="566928" cy="566928"/>
          </a:xfrm>
          <a:prstGeom prst="ellipse">
            <a:avLst/>
          </a:prstGeom>
          <a:ln w="22225">
            <a:solidFill>
              <a:srgbClr val="1F7FD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0020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8105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Fabricate and populate both PCBs (backup unit and EDR HAT).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1600200" y="2679192"/>
            <a:ext cx="566928" cy="566928"/>
          </a:xfrm>
          <a:prstGeom prst="ellipse">
            <a:avLst/>
          </a:prstGeom>
          <a:ln w="22225">
            <a:solidFill>
              <a:srgbClr val="1F7F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26791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5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70662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sensors on the Pi; enable SPI/I²C and verify each module.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1600200" y="3575304"/>
            <a:ext cx="566928" cy="566928"/>
          </a:xfrm>
          <a:prstGeom prst="ellipse">
            <a:avLst/>
          </a:prstGeom>
          <a:ln w="22225">
            <a:solidFill>
              <a:srgbClr val="1F7F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0200" y="35753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5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360273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Bench-test power failover; confirm hold-up during a live write.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1600200" y="4471416"/>
            <a:ext cx="566928" cy="566928"/>
          </a:xfrm>
          <a:prstGeom prst="ellipse">
            <a:avLst/>
          </a:prstGeom>
          <a:ln w="22225">
            <a:solidFill>
              <a:srgbClr val="1F7F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0200" y="4471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5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49884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end-to-end crash capture: Node A → Node B → locked record.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1600200" y="5367528"/>
            <a:ext cx="566928" cy="566928"/>
          </a:xfrm>
          <a:prstGeom prst="ellipse">
            <a:avLst/>
          </a:prstGeom>
          <a:ln w="22225">
            <a:solidFill>
              <a:srgbClr val="1F7F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00200" y="5367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5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5394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results and complete documentation.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249528" y="1600200"/>
            <a:ext cx="96926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validated the complete recording &amp; analysis software.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40-parameter engine, tested across 6 scenarios.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10-module forensic analysis workstation.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and routed both custom PCBs.</a:t>
            </a:r>
            <a:endParaRPr lang="en-US" sz="1900" dirty="0"/>
          </a:p>
          <a:p>
            <a:pPr lvl="1" marL="558800" indent="-279400">
              <a:lnSpc>
                <a:spcPct val="112000"/>
              </a:lnSpc>
              <a:spcAft>
                <a:spcPts val="600"/>
              </a:spcAft>
              <a:buSzPct val="100000"/>
              <a:buChar char="○"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Survivability Unit and the EDR HAT.</a:t>
            </a:r>
            <a:endParaRPr lang="en-US" sz="1900" dirty="0"/>
          </a:p>
          <a:p>
            <a:pPr marL="279400" indent="-279400">
              <a:lnSpc>
                <a:spcPct val="112000"/>
              </a:lnSpc>
              <a:spcAft>
                <a:spcPts val="1100"/>
              </a:spcAft>
              <a:buSzPct val="100000"/>
              <a:buChar char="●"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work is fabrication, integration and on-bench validation.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128016"/>
            <a:ext cx="11935663" cy="6601968"/>
          </a:xfrm>
          <a:prstGeom prst="rect">
            <a:avLst/>
          </a:prstGeom>
          <a:ln w="12700">
            <a:solidFill>
              <a:srgbClr val="AEB6C0"/>
            </a:solidFill>
            <a:prstDash val="solid"/>
          </a:ln>
        </p:spPr>
        <p:txBody>
          <a:bodyPr/>
          <a:p/>
        </p:txBody>
      </p:sp>
      <p:sp>
        <p:nvSpPr>
          <p:cNvPr id="5" name="Text 1"/>
          <p:cNvSpPr txBox="1"/>
          <p:nvPr/>
        </p:nvSpPr>
        <p:spPr>
          <a:xfrm>
            <a:off x="914400" y="274320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1F7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00" dirty="0"/>
          </a:p>
        </p:txBody>
      </p:sp>
      <p:sp>
        <p:nvSpPr>
          <p:cNvPr id="9" name="Text 5"/>
          <p:cNvSpPr txBox="1"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2026-09-07T23:36:22Z</dcterms:created>
  <dcterms:modified xsi:type="dcterms:W3CDTF">2026-09-07T23:36:22Z</dcterms:modified>
</cp:coreProperties>
</file>